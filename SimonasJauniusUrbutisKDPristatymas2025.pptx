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738" r:id="rId2"/>
    <p:sldMasterId id="2147483710" r:id="rId3"/>
  </p:sldMasterIdLst>
  <p:notesMasterIdLst>
    <p:notesMasterId r:id="rId16"/>
  </p:notesMasterIdLst>
  <p:sldIdLst>
    <p:sldId id="256" r:id="rId4"/>
    <p:sldId id="320" r:id="rId5"/>
    <p:sldId id="323" r:id="rId6"/>
    <p:sldId id="321" r:id="rId7"/>
    <p:sldId id="322" r:id="rId8"/>
    <p:sldId id="324" r:id="rId9"/>
    <p:sldId id="325" r:id="rId10"/>
    <p:sldId id="329" r:id="rId11"/>
    <p:sldId id="332" r:id="rId12"/>
    <p:sldId id="333" r:id="rId13"/>
    <p:sldId id="334" r:id="rId14"/>
    <p:sldId id="327" r:id="rId15"/>
  </p:sldIdLst>
  <p:sldSz cx="12192000" cy="6858000"/>
  <p:notesSz cx="6858000" cy="9144000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0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73" autoAdjust="0"/>
    <p:restoredTop sz="95739"/>
  </p:normalViewPr>
  <p:slideViewPr>
    <p:cSldViewPr snapToGrid="0">
      <p:cViewPr varScale="1">
        <p:scale>
          <a:sx n="116" d="100"/>
          <a:sy n="116" d="100"/>
        </p:scale>
        <p:origin x="1114" y="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L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F80EA-476F-0A46-8105-F94A71D1CA18}" type="datetimeFigureOut">
              <a:rPr lang="en-LT" smtClean="0"/>
              <a:t>06/19/2025</a:t>
            </a:fld>
            <a:endParaRPr lang="en-L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L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L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18AEB-A583-CF40-9AC8-E9821305E10C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428454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18AEB-A583-CF40-9AC8-E9821305E10C}" type="slidenum">
              <a:rPr lang="en-LT" smtClean="0"/>
              <a:t>9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777329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ulinė skaidr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35300" y="4043088"/>
            <a:ext cx="8560955" cy="2305050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9016" y="459481"/>
            <a:ext cx="3647137" cy="1365515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2521776" y="3493564"/>
            <a:ext cx="1754297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793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ulinė skaidrė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458527" y="3102776"/>
            <a:ext cx="5396345" cy="3481198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946098" y="2667741"/>
            <a:ext cx="1754297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9016" y="459481"/>
            <a:ext cx="3647137" cy="136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4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ulinė skaidrė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458528" y="3338945"/>
            <a:ext cx="5396345" cy="3186462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6096000" y="2869785"/>
            <a:ext cx="1410475" cy="1341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96736" y="586110"/>
            <a:ext cx="2970720" cy="1112258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46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4058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54725" y="1889760"/>
            <a:ext cx="5483860" cy="83312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055360" y="3024493"/>
            <a:ext cx="5483225" cy="3345510"/>
          </a:xfrm>
        </p:spPr>
        <p:txBody>
          <a:bodyPr/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 sz="2600"/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lvl="0"/>
            <a:endParaRPr lang="lt-LT" dirty="0"/>
          </a:p>
          <a:p>
            <a:pPr lvl="0"/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167221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86842"/>
            <a:ext cx="9053945" cy="1126868"/>
          </a:xfrm>
        </p:spPr>
        <p:txBody>
          <a:bodyPr/>
          <a:lstStyle/>
          <a:p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title</a:t>
            </a:r>
            <a:r>
              <a:rPr lang="lt-LT" dirty="0"/>
              <a:t> </a:t>
            </a:r>
            <a:r>
              <a:rPr lang="lt-LT" dirty="0" err="1"/>
              <a:t>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8200" y="2512405"/>
            <a:ext cx="9053945" cy="3597450"/>
          </a:xfrm>
        </p:spPr>
        <p:txBody>
          <a:bodyPr>
            <a:normAutofit/>
          </a:bodyPr>
          <a:lstStyle>
            <a:lvl1pPr>
              <a:defRPr sz="2600"/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191197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veikslėlis ir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6591" y="1392063"/>
            <a:ext cx="6796209" cy="121692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4176568" y="2909455"/>
            <a:ext cx="6796088" cy="3178897"/>
          </a:xfrm>
        </p:spPr>
        <p:txBody>
          <a:bodyPr>
            <a:normAutofit/>
          </a:bodyPr>
          <a:lstStyle>
            <a:lvl1pPr>
              <a:defRPr sz="2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7938"/>
            <a:ext cx="3035300" cy="6842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15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yriaus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3004" y="5874868"/>
            <a:ext cx="14478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31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yriaus pavadinim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943144" y="4727407"/>
            <a:ext cx="1943100" cy="1765468"/>
          </a:xfrm>
          <a:noFill/>
          <a:ln>
            <a:noFill/>
          </a:ln>
        </p:spPr>
        <p:txBody>
          <a:bodyPr anchor="b">
            <a:normAutofit/>
          </a:bodyPr>
          <a:lstStyle>
            <a:lvl1pPr algn="r">
              <a:defRPr sz="9600" b="1">
                <a:solidFill>
                  <a:schemeClr val="tx1"/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1pPr>
          </a:lstStyle>
          <a:p>
            <a:pPr lvl="0"/>
            <a:r>
              <a:rPr lang="en-US"/>
              <a:t>1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52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yriaus pavadinima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82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kstas ir paveikslėli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517136" y="0"/>
            <a:ext cx="7674864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76" y="1314510"/>
            <a:ext cx="3576408" cy="140562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35864" y="3267940"/>
            <a:ext cx="3576408" cy="3144444"/>
          </a:xfrm>
        </p:spPr>
        <p:txBody>
          <a:bodyPr>
            <a:normAutofit/>
          </a:bodyPr>
          <a:lstStyle>
            <a:lvl1pPr>
              <a:defRPr sz="2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2359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56227" y="755793"/>
            <a:ext cx="5332846" cy="376150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90277" y="2636548"/>
            <a:ext cx="4918075" cy="3574618"/>
          </a:xfrm>
        </p:spPr>
        <p:txBody>
          <a:bodyPr>
            <a:normAutofit/>
          </a:bodyPr>
          <a:lstStyle>
            <a:lvl1pPr>
              <a:defRPr sz="2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4113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tat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6750" y="2093595"/>
            <a:ext cx="8318500" cy="270700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303530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1104275" y="172449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9409039" y="5038690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79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veiksllis ir 3 stulpel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838201" y="3075709"/>
            <a:ext cx="3193472" cy="3075854"/>
          </a:xfrm>
        </p:spPr>
        <p:txBody>
          <a:bodyPr/>
          <a:lstStyle>
            <a:lvl1pPr>
              <a:defRPr sz="2600"/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499264" y="3075709"/>
            <a:ext cx="3193472" cy="3075854"/>
          </a:xfrm>
        </p:spPr>
        <p:txBody>
          <a:bodyPr/>
          <a:lstStyle>
            <a:lvl1pPr>
              <a:defRPr sz="2600"/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160327" y="3075709"/>
            <a:ext cx="3193472" cy="3075854"/>
          </a:xfrm>
        </p:spPr>
        <p:txBody>
          <a:bodyPr/>
          <a:lstStyle>
            <a:lvl1pPr>
              <a:defRPr sz="2600"/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9" name="Rectangle 8"/>
          <p:cNvSpPr/>
          <p:nvPr userDrawn="1"/>
        </p:nvSpPr>
        <p:spPr>
          <a:xfrm>
            <a:off x="661924" y="277309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/>
          </a:p>
        </p:txBody>
      </p:sp>
      <p:sp>
        <p:nvSpPr>
          <p:cNvPr id="14" name="Rectangle 13"/>
          <p:cNvSpPr/>
          <p:nvPr userDrawn="1"/>
        </p:nvSpPr>
        <p:spPr>
          <a:xfrm>
            <a:off x="4302204" y="277309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/>
          </a:p>
        </p:txBody>
      </p:sp>
      <p:sp>
        <p:nvSpPr>
          <p:cNvPr id="15" name="Rectangle 14"/>
          <p:cNvSpPr/>
          <p:nvPr userDrawn="1"/>
        </p:nvSpPr>
        <p:spPr>
          <a:xfrm>
            <a:off x="7963267" y="277309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2276475"/>
          </a:xfrm>
        </p:spPr>
        <p:txBody>
          <a:bodyPr>
            <a:normAutofit/>
          </a:bodyPr>
          <a:lstStyle>
            <a:lvl1pPr>
              <a:defRPr sz="2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14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ys stulpel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1" y="1773528"/>
            <a:ext cx="3193472" cy="4323629"/>
          </a:xfrm>
        </p:spPr>
        <p:txBody>
          <a:bodyPr/>
          <a:lstStyle>
            <a:lvl1pPr>
              <a:defRPr sz="2600"/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499264" y="1773528"/>
            <a:ext cx="3193472" cy="4323629"/>
          </a:xfrm>
        </p:spPr>
        <p:txBody>
          <a:bodyPr/>
          <a:lstStyle>
            <a:lvl1pPr>
              <a:defRPr sz="2600"/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160327" y="1773528"/>
            <a:ext cx="3193472" cy="4323629"/>
          </a:xfrm>
        </p:spPr>
        <p:txBody>
          <a:bodyPr/>
          <a:lstStyle>
            <a:lvl1pPr>
              <a:defRPr sz="2600"/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9" name="Rectangle 8"/>
          <p:cNvSpPr/>
          <p:nvPr userDrawn="1"/>
        </p:nvSpPr>
        <p:spPr>
          <a:xfrm>
            <a:off x="646302" y="147091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/>
          </a:p>
        </p:txBody>
      </p:sp>
      <p:sp>
        <p:nvSpPr>
          <p:cNvPr id="10" name="Rectangle 9"/>
          <p:cNvSpPr/>
          <p:nvPr userDrawn="1"/>
        </p:nvSpPr>
        <p:spPr>
          <a:xfrm>
            <a:off x="4286582" y="147091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/>
          </a:p>
        </p:txBody>
      </p:sp>
      <p:sp>
        <p:nvSpPr>
          <p:cNvPr id="11" name="Rectangle 10"/>
          <p:cNvSpPr/>
          <p:nvPr userDrawn="1"/>
        </p:nvSpPr>
        <p:spPr>
          <a:xfrm>
            <a:off x="7947645" y="147091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411441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unkt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004460" y="1907453"/>
            <a:ext cx="4396739" cy="1740450"/>
          </a:xfrm>
        </p:spPr>
        <p:txBody>
          <a:bodyPr/>
          <a:lstStyle>
            <a:lvl1pPr>
              <a:defRPr sz="2600"/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9" name="Rectangle 8"/>
          <p:cNvSpPr/>
          <p:nvPr userDrawn="1"/>
        </p:nvSpPr>
        <p:spPr>
          <a:xfrm>
            <a:off x="791778" y="160484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1004460" y="4284893"/>
            <a:ext cx="4396739" cy="1740450"/>
          </a:xfrm>
        </p:spPr>
        <p:txBody>
          <a:bodyPr/>
          <a:lstStyle>
            <a:lvl1pPr>
              <a:defRPr sz="2600"/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791778" y="398228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/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889750" y="1907453"/>
            <a:ext cx="4396739" cy="1740450"/>
          </a:xfrm>
        </p:spPr>
        <p:txBody>
          <a:bodyPr/>
          <a:lstStyle>
            <a:lvl1pPr>
              <a:defRPr sz="2600"/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6677068" y="160484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6889750" y="4284893"/>
            <a:ext cx="4396739" cy="1740450"/>
          </a:xfrm>
        </p:spPr>
        <p:txBody>
          <a:bodyPr/>
          <a:lstStyle>
            <a:lvl1pPr>
              <a:defRPr sz="2600"/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6677068" y="398228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1360320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k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838200" y="2156460"/>
            <a:ext cx="5010150" cy="395605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6172511" y="2156460"/>
            <a:ext cx="5010150" cy="39560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26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k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0"/>
          </p:nvPr>
        </p:nvSpPr>
        <p:spPr>
          <a:xfrm>
            <a:off x="838200" y="2156460"/>
            <a:ext cx="9561513" cy="40195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800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uktū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Click to edit Master title style</a:t>
            </a:r>
            <a:endParaRPr lang="en-US"/>
          </a:p>
        </p:txBody>
      </p:sp>
      <p:sp>
        <p:nvSpPr>
          <p:cNvPr id="4" name="SmartArt Placeholder 3"/>
          <p:cNvSpPr>
            <a:spLocks noGrp="1"/>
          </p:cNvSpPr>
          <p:nvPr>
            <p:ph type="dgm" sz="quarter" idx="10"/>
          </p:nvPr>
        </p:nvSpPr>
        <p:spPr>
          <a:xfrm>
            <a:off x="838200" y="2041525"/>
            <a:ext cx="8929255" cy="42211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8218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ntel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Click to edit Master title style</a:t>
            </a:r>
            <a:endParaRPr lang="en-US"/>
          </a:p>
        </p:txBody>
      </p:sp>
      <p:sp>
        <p:nvSpPr>
          <p:cNvPr id="6" name="Table Placeholder 5"/>
          <p:cNvSpPr>
            <a:spLocks noGrp="1"/>
          </p:cNvSpPr>
          <p:nvPr>
            <p:ph type="tbl" sz="quarter" idx="10"/>
          </p:nvPr>
        </p:nvSpPr>
        <p:spPr>
          <a:xfrm>
            <a:off x="838200" y="2041525"/>
            <a:ext cx="8929688" cy="41100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744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veikslėl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29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veikslėlių koliaž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00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096000" y="2276475"/>
            <a:ext cx="6096000" cy="4573588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22764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472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šraus turinio koliaž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006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096000" y="2276475"/>
            <a:ext cx="6096000" cy="457358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423660" y="320041"/>
            <a:ext cx="5394960" cy="1691640"/>
          </a:xfrm>
        </p:spPr>
        <p:txBody>
          <a:bodyPr>
            <a:normAutofit/>
          </a:bodyPr>
          <a:lstStyle>
            <a:lvl1pPr>
              <a:defRPr sz="2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72287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455" y="599440"/>
            <a:ext cx="3103721" cy="1162056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389255" y="4279271"/>
            <a:ext cx="5394325" cy="2033905"/>
          </a:xfrm>
        </p:spPr>
        <p:txBody>
          <a:bodyPr>
            <a:normAutofit/>
          </a:bodyPr>
          <a:lstStyle>
            <a:lvl1pPr>
              <a:defRPr sz="2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6389255" y="3221287"/>
            <a:ext cx="5396345" cy="83312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PAVADINIMAS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5849598" y="2855328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0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0205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ulinė skaidr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35300" y="4043088"/>
            <a:ext cx="8560955" cy="2305050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2521776" y="3493564"/>
            <a:ext cx="1754297" cy="141095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C913B9-E50C-0994-0193-95DCD27871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77" y="473971"/>
            <a:ext cx="1267683" cy="142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2139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ulinė skaidrė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458527" y="3102776"/>
            <a:ext cx="5396345" cy="3481198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946098" y="2667741"/>
            <a:ext cx="1754297" cy="1410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D2F274-AEA5-D707-5A15-F287714237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77" y="473971"/>
            <a:ext cx="1267683" cy="142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0521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ulinė skaidrė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458528" y="3338945"/>
            <a:ext cx="5396345" cy="3186462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6096000" y="2869785"/>
            <a:ext cx="1410475" cy="1341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3EC9D2-B848-6933-0E20-B54FD4F3ED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737" y="586112"/>
            <a:ext cx="1003095" cy="112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9455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4058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54725" y="1889760"/>
            <a:ext cx="5483860" cy="83312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055360" y="3024493"/>
            <a:ext cx="5483225" cy="3345510"/>
          </a:xfrm>
        </p:spPr>
        <p:txBody>
          <a:bodyPr/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lvl="0"/>
            <a:endParaRPr lang="lt-LT" dirty="0"/>
          </a:p>
          <a:p>
            <a:pPr lvl="0"/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7621209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86842"/>
            <a:ext cx="9053945" cy="1126868"/>
          </a:xfrm>
        </p:spPr>
        <p:txBody>
          <a:bodyPr/>
          <a:lstStyle/>
          <a:p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title</a:t>
            </a:r>
            <a:r>
              <a:rPr lang="lt-LT" dirty="0"/>
              <a:t> </a:t>
            </a:r>
            <a:r>
              <a:rPr lang="lt-LT" dirty="0" err="1"/>
              <a:t>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8200" y="2512405"/>
            <a:ext cx="9053945" cy="3597450"/>
          </a:xfr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5673195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veikslėlis ir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6591" y="1392063"/>
            <a:ext cx="6796209" cy="121692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4176568" y="2909455"/>
            <a:ext cx="6796088" cy="3178897"/>
          </a:xfrm>
        </p:spPr>
        <p:txBody>
          <a:bodyPr>
            <a:normAutofit/>
          </a:bodyPr>
          <a:lstStyle>
            <a:lvl1pPr>
              <a:defRPr sz="260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7938"/>
            <a:ext cx="3035300" cy="6842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018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yriaus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3004" y="5874868"/>
            <a:ext cx="14478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7144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yriaus pavadinim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943144" y="4727407"/>
            <a:ext cx="1943100" cy="1765468"/>
          </a:xfrm>
          <a:noFill/>
          <a:ln>
            <a:noFill/>
          </a:ln>
        </p:spPr>
        <p:txBody>
          <a:bodyPr anchor="b">
            <a:normAutofit/>
          </a:bodyPr>
          <a:lstStyle>
            <a:lvl1pPr algn="r">
              <a:defRPr sz="9600" b="1">
                <a:solidFill>
                  <a:sysClr val="windowText" lastClr="000000"/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465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yriaus pavadinima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7549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kstas ir paveikslėli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517136" y="0"/>
            <a:ext cx="7674864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76" y="1314510"/>
            <a:ext cx="3576408" cy="140562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35864" y="3267940"/>
            <a:ext cx="3576408" cy="3144444"/>
          </a:xfr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82713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56227" y="755793"/>
            <a:ext cx="5332846" cy="376150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90277" y="2636548"/>
            <a:ext cx="4918075" cy="3574618"/>
          </a:xfr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42825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tat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6750" y="2093595"/>
            <a:ext cx="8318500" cy="270700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303530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1104275" y="1724494"/>
            <a:ext cx="1692421" cy="1410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9409039" y="5038690"/>
            <a:ext cx="1692421" cy="1410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2436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veiksllis ir 3 stulpel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838201" y="3075709"/>
            <a:ext cx="3193472" cy="3075854"/>
          </a:xfr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499264" y="3075709"/>
            <a:ext cx="3193472" cy="3075854"/>
          </a:xfr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160327" y="3075709"/>
            <a:ext cx="3193472" cy="3075854"/>
          </a:xfr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9" name="Rectangle 8"/>
          <p:cNvSpPr/>
          <p:nvPr userDrawn="1"/>
        </p:nvSpPr>
        <p:spPr>
          <a:xfrm>
            <a:off x="661924" y="2773099"/>
            <a:ext cx="425364" cy="11557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4302204" y="2773099"/>
            <a:ext cx="425364" cy="11557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7963267" y="2773099"/>
            <a:ext cx="425364" cy="11557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2276475"/>
          </a:xfr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049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ys stulpel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1" y="1773528"/>
            <a:ext cx="3193472" cy="4323629"/>
          </a:xfr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499264" y="1773528"/>
            <a:ext cx="3193472" cy="4323629"/>
          </a:xfr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160327" y="1773528"/>
            <a:ext cx="3193472" cy="4323629"/>
          </a:xfr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9" name="Rectangle 8"/>
          <p:cNvSpPr/>
          <p:nvPr userDrawn="1"/>
        </p:nvSpPr>
        <p:spPr>
          <a:xfrm>
            <a:off x="646302" y="1470919"/>
            <a:ext cx="425364" cy="11557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86582" y="1470919"/>
            <a:ext cx="425364" cy="11557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7947645" y="1470919"/>
            <a:ext cx="425364" cy="11557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3271520" cy="853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90909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unkt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004460" y="1907453"/>
            <a:ext cx="4396739" cy="1740450"/>
          </a:xfr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9" name="Rectangle 8"/>
          <p:cNvSpPr/>
          <p:nvPr userDrawn="1"/>
        </p:nvSpPr>
        <p:spPr>
          <a:xfrm>
            <a:off x="791778" y="1604843"/>
            <a:ext cx="425364" cy="11557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1004460" y="4284893"/>
            <a:ext cx="4396739" cy="1740450"/>
          </a:xfr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791778" y="3982283"/>
            <a:ext cx="425364" cy="11557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889750" y="1907453"/>
            <a:ext cx="4396739" cy="1740450"/>
          </a:xfr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6677068" y="1604843"/>
            <a:ext cx="425364" cy="11557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6889750" y="4284893"/>
            <a:ext cx="4396739" cy="1740450"/>
          </a:xfr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6677068" y="3982283"/>
            <a:ext cx="425364" cy="11557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670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k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838200" y="2156460"/>
            <a:ext cx="5010150" cy="395605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6172511" y="2156460"/>
            <a:ext cx="5010150" cy="39560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8242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k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0"/>
          </p:nvPr>
        </p:nvSpPr>
        <p:spPr>
          <a:xfrm>
            <a:off x="838200" y="2156460"/>
            <a:ext cx="9561513" cy="40195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9650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uktū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Click to edit Master title style</a:t>
            </a:r>
            <a:endParaRPr lang="en-US"/>
          </a:p>
        </p:txBody>
      </p:sp>
      <p:sp>
        <p:nvSpPr>
          <p:cNvPr id="4" name="SmartArt Placeholder 3"/>
          <p:cNvSpPr>
            <a:spLocks noGrp="1"/>
          </p:cNvSpPr>
          <p:nvPr>
            <p:ph type="dgm" sz="quarter" idx="10"/>
          </p:nvPr>
        </p:nvSpPr>
        <p:spPr>
          <a:xfrm>
            <a:off x="838200" y="2041525"/>
            <a:ext cx="8929255" cy="42211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55873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ntel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Click to edit Master title style</a:t>
            </a:r>
            <a:endParaRPr lang="en-US"/>
          </a:p>
        </p:txBody>
      </p:sp>
      <p:sp>
        <p:nvSpPr>
          <p:cNvPr id="6" name="Table Placeholder 5"/>
          <p:cNvSpPr>
            <a:spLocks noGrp="1"/>
          </p:cNvSpPr>
          <p:nvPr>
            <p:ph type="tbl" sz="quarter" idx="10"/>
          </p:nvPr>
        </p:nvSpPr>
        <p:spPr>
          <a:xfrm>
            <a:off x="838200" y="2041525"/>
            <a:ext cx="8929688" cy="41100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67701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veikslėl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08725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veikslėlių koliaž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00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096000" y="2276475"/>
            <a:ext cx="6096000" cy="4573588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22764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11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šraus turinio koliaž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006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096000" y="2276475"/>
            <a:ext cx="6096000" cy="457358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423660" y="320041"/>
            <a:ext cx="5394960" cy="16916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68660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389255" y="4279271"/>
            <a:ext cx="5394325" cy="203390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6389255" y="3221287"/>
            <a:ext cx="5396345" cy="83312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PAVADINIMAS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5849598" y="2855328"/>
            <a:ext cx="1692421" cy="141095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74692F-4184-A546-7BC4-BB585B964F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455" y="599441"/>
            <a:ext cx="1032939" cy="116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4120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ulinė skaidr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671" y="449990"/>
            <a:ext cx="3672482" cy="13750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35300" y="4043088"/>
            <a:ext cx="8560955" cy="2305050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2521776" y="3493564"/>
            <a:ext cx="1754297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94661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ulinė skaidrė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671" y="449990"/>
            <a:ext cx="3672482" cy="1375005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458527" y="3102776"/>
            <a:ext cx="5396345" cy="3481198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946098" y="2667741"/>
            <a:ext cx="1754297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4701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ulinė skaidrė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96736" y="586111"/>
            <a:ext cx="2967867" cy="1111192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458528" y="3338945"/>
            <a:ext cx="5396345" cy="3186462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6096000" y="2869785"/>
            <a:ext cx="1410475" cy="1341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5877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4058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54725" y="1889760"/>
            <a:ext cx="5483860" cy="83312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055360" y="3024493"/>
            <a:ext cx="5483225" cy="3345510"/>
          </a:xfrm>
        </p:spPr>
        <p:txBody>
          <a:bodyPr/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lvl="0"/>
            <a:endParaRPr lang="lt-LT" dirty="0"/>
          </a:p>
          <a:p>
            <a:pPr lvl="0"/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0881847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86842"/>
            <a:ext cx="9053945" cy="1126868"/>
          </a:xfrm>
        </p:spPr>
        <p:txBody>
          <a:bodyPr/>
          <a:lstStyle/>
          <a:p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title</a:t>
            </a:r>
            <a:r>
              <a:rPr lang="lt-LT" dirty="0"/>
              <a:t> </a:t>
            </a:r>
            <a:r>
              <a:rPr lang="lt-LT" dirty="0" err="1"/>
              <a:t>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8200" y="2512405"/>
            <a:ext cx="9053945" cy="3597450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93349977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veikslėlis ir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6591" y="1392063"/>
            <a:ext cx="6796209" cy="121692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4176568" y="2909455"/>
            <a:ext cx="6796088" cy="3178897"/>
          </a:xfrm>
        </p:spPr>
        <p:txBody>
          <a:bodyPr>
            <a:normAutofit/>
          </a:bodyPr>
          <a:lstStyle>
            <a:lvl1pPr>
              <a:defRPr sz="2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7938"/>
            <a:ext cx="3035300" cy="6842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0895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yriaus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3004" y="5893918"/>
            <a:ext cx="14478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71824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yriaus pavadinim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943144" y="4727407"/>
            <a:ext cx="1943100" cy="1765468"/>
          </a:xfrm>
          <a:noFill/>
          <a:ln>
            <a:noFill/>
          </a:ln>
        </p:spPr>
        <p:txBody>
          <a:bodyPr anchor="b">
            <a:normAutofit/>
          </a:bodyPr>
          <a:lstStyle>
            <a:lvl1pPr algn="r">
              <a:defRPr sz="9600" b="1">
                <a:solidFill>
                  <a:schemeClr val="tx1"/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1pPr>
          </a:lstStyle>
          <a:p>
            <a:pPr lvl="0"/>
            <a:r>
              <a:rPr lang="en-US"/>
              <a:t>1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0897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yriaus pavadinima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086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kstas ir paveikslėli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517136" y="0"/>
            <a:ext cx="7674864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76" y="1314510"/>
            <a:ext cx="3576408" cy="140562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35864" y="3267940"/>
            <a:ext cx="3576408" cy="314444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505080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56227" y="755793"/>
            <a:ext cx="5332846" cy="376150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90277" y="2636548"/>
            <a:ext cx="4918075" cy="35746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630533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tat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6750" y="2093595"/>
            <a:ext cx="8318500" cy="270700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303530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1104275" y="172449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9409039" y="5038690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5971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veiksllis ir 3 stulpel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838201" y="3075709"/>
            <a:ext cx="3193472" cy="3075854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499264" y="3075709"/>
            <a:ext cx="3193472" cy="3075854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160327" y="3075709"/>
            <a:ext cx="3193472" cy="3075854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9" name="Rectangle 8"/>
          <p:cNvSpPr/>
          <p:nvPr userDrawn="1"/>
        </p:nvSpPr>
        <p:spPr>
          <a:xfrm>
            <a:off x="661924" y="277309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4302204" y="277309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7963267" y="277309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22764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81421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ys stulpel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1" y="1773528"/>
            <a:ext cx="3193472" cy="4323629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499264" y="1773528"/>
            <a:ext cx="3193472" cy="4323629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160327" y="1773528"/>
            <a:ext cx="3193472" cy="4323629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9" name="Rectangle 8"/>
          <p:cNvSpPr/>
          <p:nvPr userDrawn="1"/>
        </p:nvSpPr>
        <p:spPr>
          <a:xfrm>
            <a:off x="646302" y="147091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4286582" y="147091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7947645" y="147091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3271520" cy="853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071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unkt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004460" y="1907453"/>
            <a:ext cx="4396739" cy="1740450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9" name="Rectangle 8"/>
          <p:cNvSpPr/>
          <p:nvPr userDrawn="1"/>
        </p:nvSpPr>
        <p:spPr>
          <a:xfrm>
            <a:off x="791778" y="160484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1004460" y="4284893"/>
            <a:ext cx="4396739" cy="1740450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791778" y="398228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889750" y="1907453"/>
            <a:ext cx="4396739" cy="1740450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6677068" y="160484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6889750" y="4284893"/>
            <a:ext cx="4396739" cy="1740450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6677068" y="398228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57910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ka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838200" y="2156460"/>
            <a:ext cx="5010150" cy="395605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6172511" y="2156460"/>
            <a:ext cx="5010150" cy="39560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060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k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0"/>
          </p:nvPr>
        </p:nvSpPr>
        <p:spPr>
          <a:xfrm>
            <a:off x="838200" y="2156460"/>
            <a:ext cx="9561513" cy="40195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2600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uktū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Click to edit Master title style</a:t>
            </a:r>
            <a:endParaRPr lang="en-US"/>
          </a:p>
        </p:txBody>
      </p:sp>
      <p:sp>
        <p:nvSpPr>
          <p:cNvPr id="4" name="SmartArt Placeholder 3"/>
          <p:cNvSpPr>
            <a:spLocks noGrp="1"/>
          </p:cNvSpPr>
          <p:nvPr>
            <p:ph type="dgm" sz="quarter" idx="10"/>
          </p:nvPr>
        </p:nvSpPr>
        <p:spPr>
          <a:xfrm>
            <a:off x="838200" y="2041525"/>
            <a:ext cx="8929255" cy="42211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5513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ntel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Click to edit Master title style</a:t>
            </a:r>
            <a:endParaRPr lang="en-US"/>
          </a:p>
        </p:txBody>
      </p:sp>
      <p:sp>
        <p:nvSpPr>
          <p:cNvPr id="6" name="Table Placeholder 5"/>
          <p:cNvSpPr>
            <a:spLocks noGrp="1"/>
          </p:cNvSpPr>
          <p:nvPr>
            <p:ph type="tbl" sz="quarter" idx="10"/>
          </p:nvPr>
        </p:nvSpPr>
        <p:spPr>
          <a:xfrm>
            <a:off x="838200" y="2041525"/>
            <a:ext cx="8929688" cy="41100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5361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veikslėl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0521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veikslėlių koliaž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00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096000" y="2276475"/>
            <a:ext cx="6096000" cy="4573588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22764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85825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šraus turinio koliaž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006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096000" y="2276475"/>
            <a:ext cx="6096000" cy="457358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423660" y="320041"/>
            <a:ext cx="5394960" cy="16916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385794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671" y="594653"/>
            <a:ext cx="3116505" cy="1166843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389255" y="4279271"/>
            <a:ext cx="5394325" cy="203390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6389255" y="3221287"/>
            <a:ext cx="5396345" cy="83312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PAVADINIMAS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5849598" y="2855328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0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image" Target="../media/image3.png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60.xml"/><Relationship Id="rId1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68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17" Type="http://schemas.openxmlformats.org/officeDocument/2006/relationships/slideLayout" Target="../slideLayouts/slideLayout64.xml"/><Relationship Id="rId25" Type="http://schemas.openxmlformats.org/officeDocument/2006/relationships/image" Target="../media/image7.emf"/><Relationship Id="rId2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63.xml"/><Relationship Id="rId20" Type="http://schemas.openxmlformats.org/officeDocument/2006/relationships/slideLayout" Target="../slideLayouts/slideLayout67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62.xml"/><Relationship Id="rId23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57.xml"/><Relationship Id="rId19" Type="http://schemas.openxmlformats.org/officeDocument/2006/relationships/slideLayout" Target="../slideLayouts/slideLayout66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61.xml"/><Relationship Id="rId22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15787"/>
            <a:ext cx="8929255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276475"/>
            <a:ext cx="8929255" cy="3148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770747" y="6356350"/>
            <a:ext cx="37143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lt-LT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10163004" y="521818"/>
            <a:ext cx="14478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527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76" r:id="rId2"/>
    <p:sldLayoutId id="2147483678" r:id="rId3"/>
    <p:sldLayoutId id="2147483683" r:id="rId4"/>
    <p:sldLayoutId id="2147483709" r:id="rId5"/>
    <p:sldLayoutId id="2147483654" r:id="rId6"/>
    <p:sldLayoutId id="2147483655" r:id="rId7"/>
    <p:sldLayoutId id="2147483680" r:id="rId8"/>
    <p:sldLayoutId id="2147483677" r:id="rId9"/>
    <p:sldLayoutId id="2147483656" r:id="rId10"/>
    <p:sldLayoutId id="2147483658" r:id="rId11"/>
    <p:sldLayoutId id="2147483684" r:id="rId12"/>
    <p:sldLayoutId id="2147483679" r:id="rId13"/>
    <p:sldLayoutId id="2147483685" r:id="rId14"/>
    <p:sldLayoutId id="2147483686" r:id="rId15"/>
    <p:sldLayoutId id="2147483730" r:id="rId16"/>
    <p:sldLayoutId id="2147483731" r:id="rId17"/>
    <p:sldLayoutId id="2147483734" r:id="rId18"/>
    <p:sldLayoutId id="2147483735" r:id="rId19"/>
    <p:sldLayoutId id="2147483659" r:id="rId20"/>
    <p:sldLayoutId id="2147483687" r:id="rId21"/>
    <p:sldLayoutId id="2147483688" r:id="rId22"/>
    <p:sldLayoutId id="2147483682" r:id="rId23"/>
    <p:sldLayoutId id="2147483767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2000" kern="1200">
          <a:solidFill>
            <a:schemeClr val="accent3">
              <a:lumMod val="50000"/>
            </a:schemeClr>
          </a:solidFill>
          <a:latin typeface="Arial" charset="0"/>
          <a:ea typeface="Arial" charset="0"/>
          <a:cs typeface="Arial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chemeClr val="bg1">
              <a:lumMod val="50000"/>
            </a:schemeClr>
          </a:solidFill>
          <a:latin typeface="GT Walsheim Regular Oblique" charset="0"/>
          <a:ea typeface="GT Walsheim Regular Oblique" charset="0"/>
          <a:cs typeface="GT Walsheim Regular Oblique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bg1">
              <a:lumMod val="50000"/>
            </a:schemeClr>
          </a:solidFill>
          <a:latin typeface="GT Walsheim Regular Oblique" charset="0"/>
          <a:ea typeface="GT Walsheim Regular Oblique" charset="0"/>
          <a:cs typeface="GT Walsheim Regular Oblique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600" kern="1200">
          <a:solidFill>
            <a:schemeClr val="bg1">
              <a:lumMod val="50000"/>
            </a:schemeClr>
          </a:solidFill>
          <a:latin typeface="GT Walsheim Regular Oblique" charset="0"/>
          <a:ea typeface="GT Walsheim Regular Oblique" charset="0"/>
          <a:cs typeface="GT Walsheim Regular Oblique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600" kern="1200">
          <a:solidFill>
            <a:schemeClr val="bg1">
              <a:lumMod val="50000"/>
            </a:schemeClr>
          </a:solidFill>
          <a:latin typeface="GT Walsheim Regular Oblique" charset="0"/>
          <a:ea typeface="GT Walsheim Regular Oblique" charset="0"/>
          <a:cs typeface="GT Walsheim Regular Obliq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" userDrawn="1">
          <p15:clr>
            <a:srgbClr val="F26B43"/>
          </p15:clr>
        </p15:guide>
        <p15:guide id="2" userDrawn="1">
          <p15:clr>
            <a:srgbClr val="F26B43"/>
          </p15:clr>
        </p15:guide>
        <p15:guide id="3" pos="5768" userDrawn="1">
          <p15:clr>
            <a:srgbClr val="F26B43"/>
          </p15:clr>
        </p15:guide>
        <p15:guide id="4" pos="1912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7680" userDrawn="1">
          <p15:clr>
            <a:srgbClr val="F26B43"/>
          </p15:clr>
        </p15:guide>
        <p15:guide id="7" orient="horz" pos="1434" userDrawn="1">
          <p15:clr>
            <a:srgbClr val="F26B43"/>
          </p15:clr>
        </p15:guide>
        <p15:guide id="8" orient="horz" pos="2886" userDrawn="1">
          <p15:clr>
            <a:srgbClr val="F26B43"/>
          </p15:clr>
        </p15:guide>
        <p15:guide id="9" orient="horz" pos="431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15787"/>
            <a:ext cx="8929255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276475"/>
            <a:ext cx="8929255" cy="3148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770747" y="6356350"/>
            <a:ext cx="37143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lt-LT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AB510B-F340-2F6C-2C48-9FC7BC72C3CA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5284" y="291338"/>
            <a:ext cx="859396" cy="96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943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  <p:sldLayoutId id="2147483756" r:id="rId18"/>
    <p:sldLayoutId id="2147483757" r:id="rId19"/>
    <p:sldLayoutId id="2147483758" r:id="rId20"/>
    <p:sldLayoutId id="2147483759" r:id="rId21"/>
    <p:sldLayoutId id="2147483760" r:id="rId22"/>
    <p:sldLayoutId id="2147483761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2600" kern="1200">
          <a:solidFill>
            <a:schemeClr val="accent3"/>
          </a:solidFill>
          <a:latin typeface="Arial" charset="0"/>
          <a:ea typeface="Arial" charset="0"/>
          <a:cs typeface="Arial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chemeClr val="bg1">
              <a:lumMod val="50000"/>
            </a:schemeClr>
          </a:solidFill>
          <a:latin typeface="GT Walsheim Regular Oblique" charset="0"/>
          <a:ea typeface="GT Walsheim Regular Oblique" charset="0"/>
          <a:cs typeface="GT Walsheim Regular Oblique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bg1">
              <a:lumMod val="50000"/>
            </a:schemeClr>
          </a:solidFill>
          <a:latin typeface="GT Walsheim Regular Oblique" charset="0"/>
          <a:ea typeface="GT Walsheim Regular Oblique" charset="0"/>
          <a:cs typeface="GT Walsheim Regular Oblique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600" kern="1200">
          <a:solidFill>
            <a:schemeClr val="bg1">
              <a:lumMod val="50000"/>
            </a:schemeClr>
          </a:solidFill>
          <a:latin typeface="GT Walsheim Regular Oblique" charset="0"/>
          <a:ea typeface="GT Walsheim Regular Oblique" charset="0"/>
          <a:cs typeface="GT Walsheim Regular Oblique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600" kern="1200">
          <a:solidFill>
            <a:schemeClr val="bg1">
              <a:lumMod val="50000"/>
            </a:schemeClr>
          </a:solidFill>
          <a:latin typeface="GT Walsheim Regular Oblique" charset="0"/>
          <a:ea typeface="GT Walsheim Regular Oblique" charset="0"/>
          <a:cs typeface="GT Walsheim Regular Obliq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" userDrawn="1">
          <p15:clr>
            <a:srgbClr val="F26B43"/>
          </p15:clr>
        </p15:guide>
        <p15:guide id="2" userDrawn="1">
          <p15:clr>
            <a:srgbClr val="F26B43"/>
          </p15:clr>
        </p15:guide>
        <p15:guide id="3" pos="5768" userDrawn="1">
          <p15:clr>
            <a:srgbClr val="F26B43"/>
          </p15:clr>
        </p15:guide>
        <p15:guide id="4" pos="1912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7680" userDrawn="1">
          <p15:clr>
            <a:srgbClr val="F26B43"/>
          </p15:clr>
        </p15:guide>
        <p15:guide id="7" orient="horz" pos="1434" userDrawn="1">
          <p15:clr>
            <a:srgbClr val="F26B43"/>
          </p15:clr>
        </p15:guide>
        <p15:guide id="8" orient="horz" pos="2886" userDrawn="1">
          <p15:clr>
            <a:srgbClr val="F26B43"/>
          </p15:clr>
        </p15:guide>
        <p15:guide id="9" orient="horz" pos="4315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163004" y="521818"/>
            <a:ext cx="1447800" cy="444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15787"/>
            <a:ext cx="8929255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276475"/>
            <a:ext cx="8929255" cy="3148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770747" y="6356350"/>
            <a:ext cx="37143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lt-LT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7819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32" r:id="rId16"/>
    <p:sldLayoutId id="2147483733" r:id="rId17"/>
    <p:sldLayoutId id="2147483736" r:id="rId18"/>
    <p:sldLayoutId id="2147483737" r:id="rId19"/>
    <p:sldLayoutId id="2147483726" r:id="rId20"/>
    <p:sldLayoutId id="2147483727" r:id="rId21"/>
    <p:sldLayoutId id="2147483728" r:id="rId22"/>
    <p:sldLayoutId id="2147483729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26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chemeClr val="bg1">
              <a:lumMod val="50000"/>
            </a:schemeClr>
          </a:solidFill>
          <a:latin typeface="GT Walsheim Regular Oblique" charset="0"/>
          <a:ea typeface="GT Walsheim Regular Oblique" charset="0"/>
          <a:cs typeface="GT Walsheim Regular Oblique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bg1">
              <a:lumMod val="50000"/>
            </a:schemeClr>
          </a:solidFill>
          <a:latin typeface="GT Walsheim Regular Oblique" charset="0"/>
          <a:ea typeface="GT Walsheim Regular Oblique" charset="0"/>
          <a:cs typeface="GT Walsheim Regular Oblique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600" kern="1200">
          <a:solidFill>
            <a:schemeClr val="bg1">
              <a:lumMod val="50000"/>
            </a:schemeClr>
          </a:solidFill>
          <a:latin typeface="GT Walsheim Regular Oblique" charset="0"/>
          <a:ea typeface="GT Walsheim Regular Oblique" charset="0"/>
          <a:cs typeface="GT Walsheim Regular Oblique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600" kern="1200">
          <a:solidFill>
            <a:schemeClr val="bg1">
              <a:lumMod val="50000"/>
            </a:schemeClr>
          </a:solidFill>
          <a:latin typeface="GT Walsheim Regular Oblique" charset="0"/>
          <a:ea typeface="GT Walsheim Regular Oblique" charset="0"/>
          <a:cs typeface="GT Walsheim Regular Obliq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">
          <p15:clr>
            <a:srgbClr val="F26B43"/>
          </p15:clr>
        </p15:guide>
        <p15:guide id="2">
          <p15:clr>
            <a:srgbClr val="F26B43"/>
          </p15:clr>
        </p15:guide>
        <p15:guide id="3" pos="5768">
          <p15:clr>
            <a:srgbClr val="F26B43"/>
          </p15:clr>
        </p15:guide>
        <p15:guide id="4" pos="1912">
          <p15:clr>
            <a:srgbClr val="F26B43"/>
          </p15:clr>
        </p15:guide>
        <p15:guide id="5" pos="3840">
          <p15:clr>
            <a:srgbClr val="F26B43"/>
          </p15:clr>
        </p15:guide>
        <p15:guide id="6" pos="7680">
          <p15:clr>
            <a:srgbClr val="F26B43"/>
          </p15:clr>
        </p15:guide>
        <p15:guide id="7" orient="horz" pos="1434">
          <p15:clr>
            <a:srgbClr val="F26B43"/>
          </p15:clr>
        </p15:guide>
        <p15:guide id="8" orient="horz" pos="2886">
          <p15:clr>
            <a:srgbClr val="F26B43"/>
          </p15:clr>
        </p15:guide>
        <p15:guide id="9" orient="horz" pos="431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2.xml"/><Relationship Id="rId5" Type="http://schemas.microsoft.com/office/2007/relationships/hdphoto" Target="../media/hdphoto1.wdp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35298" y="3693414"/>
            <a:ext cx="8560955" cy="2305050"/>
          </a:xfrm>
        </p:spPr>
        <p:txBody>
          <a:bodyPr>
            <a:noAutofit/>
          </a:bodyPr>
          <a:lstStyle/>
          <a:p>
            <a:r>
              <a:rPr lang="lt-LT" dirty="0"/>
              <a:t>Visuomenės simuliacijos naudojant LLM</a:t>
            </a:r>
            <a:endParaRPr lang="en-US" sz="54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2474C7B-97D3-031C-07C7-6D5A6B5760E2}"/>
              </a:ext>
            </a:extLst>
          </p:cNvPr>
          <p:cNvSpPr txBox="1">
            <a:spLocks/>
          </p:cNvSpPr>
          <p:nvPr/>
        </p:nvSpPr>
        <p:spPr>
          <a:xfrm>
            <a:off x="3035300" y="5577036"/>
            <a:ext cx="3401567" cy="4214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lt-LT" sz="2000" dirty="0"/>
              <a:t>Simonas Jaunius Urbutis</a:t>
            </a:r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6009810-E917-868C-A0EB-866B1922DA3E}"/>
              </a:ext>
            </a:extLst>
          </p:cNvPr>
          <p:cNvSpPr txBox="1">
            <a:spLocks/>
          </p:cNvSpPr>
          <p:nvPr/>
        </p:nvSpPr>
        <p:spPr>
          <a:xfrm>
            <a:off x="3035299" y="5943600"/>
            <a:ext cx="4929125" cy="4214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sz="2000" dirty="0"/>
              <a:t>Darbo </a:t>
            </a:r>
            <a:r>
              <a:rPr lang="en-US" sz="2000" dirty="0" err="1"/>
              <a:t>vadovas</a:t>
            </a:r>
            <a:r>
              <a:rPr lang="en-US" sz="2000" dirty="0"/>
              <a:t>: </a:t>
            </a:r>
            <a:r>
              <a:rPr lang="en-US" sz="2000" dirty="0" err="1"/>
              <a:t>prof.dr</a:t>
            </a:r>
            <a:r>
              <a:rPr lang="en-US" sz="2000" dirty="0"/>
              <a:t> Aistis </a:t>
            </a:r>
            <a:r>
              <a:rPr lang="en-US" sz="2000" dirty="0" err="1"/>
              <a:t>Raudys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3764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40DD3-E1C2-E0D7-1B7A-6FC0F55A8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1749"/>
            <a:ext cx="9053945" cy="1126868"/>
          </a:xfrm>
        </p:spPr>
        <p:txBody>
          <a:bodyPr>
            <a:normAutofit/>
          </a:bodyPr>
          <a:lstStyle/>
          <a:p>
            <a:r>
              <a:rPr lang="en-US" sz="3200" dirty="0"/>
              <a:t>Darbo </a:t>
            </a:r>
            <a:r>
              <a:rPr lang="en-US" sz="3200" dirty="0" err="1"/>
              <a:t>tikslas</a:t>
            </a:r>
            <a:r>
              <a:rPr lang="lt-LT" sz="3200" dirty="0"/>
              <a:t> ir uždaviniai</a:t>
            </a: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C0F91-DE54-403E-8ECD-E1288AEDE1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2817481"/>
            <a:ext cx="10911840" cy="3090628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t-LT" sz="2200" dirty="0"/>
              <a:t>Apžvelgti visuomenės simuliacijos teorinius pagrindus ir panaudojimo sritis socialiniuose moksluose.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t-LT" sz="2200" dirty="0"/>
              <a:t>Identifikuoti D.K.M. panaudojimo būdus ir architektūrinius sprendimus </a:t>
            </a:r>
            <a:r>
              <a:rPr lang="lt-LT" sz="2200" dirty="0" err="1"/>
              <a:t>simuliacinėse</a:t>
            </a:r>
            <a:r>
              <a:rPr lang="lt-LT" sz="2200" dirty="0"/>
              <a:t> sistemose.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t-LT" sz="2200" dirty="0"/>
              <a:t>Išanalizuoti technologinius D.K.M. iššūkius taikant juos visuomenės simuliacijose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t-LT" sz="2200" dirty="0"/>
              <a:t>Išnagrinėti D.K.M. taikymo metodus: RAG, papildomą treniravimą (angl. </a:t>
            </a:r>
            <a:r>
              <a:rPr lang="lt-LT" sz="2200" dirty="0" err="1"/>
              <a:t>finetuning</a:t>
            </a:r>
            <a:r>
              <a:rPr lang="lt-LT" sz="2200" dirty="0"/>
              <a:t>, įvesties modeliavimą (angl. </a:t>
            </a:r>
            <a:r>
              <a:rPr lang="lt-LT" sz="2200" dirty="0" err="1"/>
              <a:t>prompt</a:t>
            </a:r>
            <a:r>
              <a:rPr lang="lt-LT" sz="2200" dirty="0"/>
              <a:t> </a:t>
            </a:r>
            <a:r>
              <a:rPr lang="lt-LT" sz="2200" dirty="0" err="1"/>
              <a:t>engineering</a:t>
            </a:r>
            <a:r>
              <a:rPr lang="lt-LT" sz="2200" dirty="0"/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 err="1"/>
              <a:t>Išanalizuoti</a:t>
            </a:r>
            <a:r>
              <a:rPr lang="en-US" sz="2200" dirty="0"/>
              <a:t> </a:t>
            </a:r>
            <a:r>
              <a:rPr lang="en-US" sz="2200" dirty="0" err="1"/>
              <a:t>kelias</a:t>
            </a:r>
            <a:r>
              <a:rPr lang="en-US" sz="2200" dirty="0"/>
              <a:t> </a:t>
            </a:r>
            <a:r>
              <a:rPr lang="en-US" sz="2200" dirty="0" err="1"/>
              <a:t>praktiškai</a:t>
            </a:r>
            <a:r>
              <a:rPr lang="en-US" sz="2200" dirty="0"/>
              <a:t> </a:t>
            </a:r>
            <a:r>
              <a:rPr lang="en-US" sz="2200" dirty="0" err="1"/>
              <a:t>įgyvendintas</a:t>
            </a:r>
            <a:r>
              <a:rPr lang="en-US" sz="2200" dirty="0"/>
              <a:t> </a:t>
            </a:r>
            <a:r>
              <a:rPr lang="en-US" sz="2200" dirty="0" err="1"/>
              <a:t>simuliacijos</a:t>
            </a:r>
            <a:r>
              <a:rPr lang="en-US" sz="2200" dirty="0"/>
              <a:t> </a:t>
            </a:r>
            <a:r>
              <a:rPr lang="en-US" sz="2200" dirty="0" err="1"/>
              <a:t>sistemas</a:t>
            </a:r>
            <a:r>
              <a:rPr lang="en-US" sz="2200" dirty="0"/>
              <a:t>. 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516E398-F052-DE52-A82E-FCA381281D11}"/>
              </a:ext>
            </a:extLst>
          </p:cNvPr>
          <p:cNvSpPr txBox="1">
            <a:spLocks/>
          </p:cNvSpPr>
          <p:nvPr/>
        </p:nvSpPr>
        <p:spPr>
          <a:xfrm>
            <a:off x="1040477" y="1018756"/>
            <a:ext cx="10911840" cy="3597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925ED55-EB23-CCC2-5048-355B165ED260}"/>
              </a:ext>
            </a:extLst>
          </p:cNvPr>
          <p:cNvSpPr txBox="1">
            <a:spLocks/>
          </p:cNvSpPr>
          <p:nvPr/>
        </p:nvSpPr>
        <p:spPr>
          <a:xfrm>
            <a:off x="538941" y="1239005"/>
            <a:ext cx="11114117" cy="1294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lt-LT" sz="2400" dirty="0"/>
              <a:t>išanalizuoti didžiųjų kalbos modelių (D.K.M.) taikymo galimybes visuomenės simuliavimui ir įvertinti, ar jie gali būti naudojami modeliuojant socialines sąveikas, reiškinius bei elgesį agentų sistemose.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9883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064F17E-B13D-8CC8-A86F-5BD8FF649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322"/>
            <a:ext cx="9053945" cy="1126868"/>
          </a:xfrm>
        </p:spPr>
        <p:txBody>
          <a:bodyPr>
            <a:normAutofit/>
          </a:bodyPr>
          <a:lstStyle/>
          <a:p>
            <a:r>
              <a:rPr lang="lt-LT" sz="3200" dirty="0"/>
              <a:t>Koks šių sistemų tikslas?</a:t>
            </a:r>
            <a:endParaRPr lang="en-US" sz="3200" dirty="0"/>
          </a:p>
        </p:txBody>
      </p:sp>
      <p:pic>
        <p:nvPicPr>
          <p:cNvPr id="2050" name="Picture 2" descr="Society Icons - Free SVG &amp; PNG Society Images - Noun Project">
            <a:extLst>
              <a:ext uri="{FF2B5EF4-FFF2-40B4-BE49-F238E27FC236}">
                <a16:creationId xmlns:a16="http://schemas.microsoft.com/office/drawing/2014/main" id="{CFFF4FE4-C6B1-032C-FC4C-9481CC874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880" y="2110048"/>
            <a:ext cx="2328256" cy="2328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conomic icon - Download on Iconfinder on Iconfinder">
            <a:extLst>
              <a:ext uri="{FF2B5EF4-FFF2-40B4-BE49-F238E27FC236}">
                <a16:creationId xmlns:a16="http://schemas.microsoft.com/office/drawing/2014/main" id="{30B3BAB0-490B-F40A-7022-A622C57DB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696" y="2264872"/>
            <a:ext cx="2018608" cy="2018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black background with text and dots&#10;&#10;AI-generated content may be incorrect.">
            <a:extLst>
              <a:ext uri="{FF2B5EF4-FFF2-40B4-BE49-F238E27FC236}">
                <a16:creationId xmlns:a16="http://schemas.microsoft.com/office/drawing/2014/main" id="{154E618E-38E2-2CDF-8EA3-E8E2C835C9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-850" b="32005"/>
          <a:stretch/>
        </p:blipFill>
        <p:spPr>
          <a:xfrm>
            <a:off x="7877694" y="1955224"/>
            <a:ext cx="3453245" cy="232825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11DC5A4-9F7A-8A88-8382-5098A355013E}"/>
              </a:ext>
            </a:extLst>
          </p:cNvPr>
          <p:cNvSpPr txBox="1">
            <a:spLocks/>
          </p:cNvSpPr>
          <p:nvPr/>
        </p:nvSpPr>
        <p:spPr>
          <a:xfrm>
            <a:off x="1232708" y="4438304"/>
            <a:ext cx="2514600" cy="11268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algn="ctr"/>
            <a:r>
              <a:rPr lang="en-US" sz="2400" dirty="0" err="1"/>
              <a:t>Socialin</a:t>
            </a:r>
            <a:r>
              <a:rPr lang="lt-LT" sz="2400" dirty="0" err="1"/>
              <a:t>iai</a:t>
            </a:r>
            <a:r>
              <a:rPr lang="lt-LT" sz="2400" dirty="0"/>
              <a:t> fenomenai</a:t>
            </a:r>
            <a:endParaRPr lang="en-US" sz="2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CF474A6-966F-1114-4C9B-EBA5BF31AF74}"/>
              </a:ext>
            </a:extLst>
          </p:cNvPr>
          <p:cNvSpPr txBox="1">
            <a:spLocks/>
          </p:cNvSpPr>
          <p:nvPr/>
        </p:nvSpPr>
        <p:spPr>
          <a:xfrm>
            <a:off x="4838700" y="4438304"/>
            <a:ext cx="2514600" cy="11268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algn="ctr"/>
            <a:r>
              <a:rPr lang="lt-LT" sz="2400" dirty="0"/>
              <a:t>Ekonomikos ir verslo įvykiai</a:t>
            </a:r>
            <a:endParaRPr lang="en-US" sz="2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2856AE-DF13-16C7-68B4-0B759F24E651}"/>
              </a:ext>
            </a:extLst>
          </p:cNvPr>
          <p:cNvSpPr txBox="1">
            <a:spLocks/>
          </p:cNvSpPr>
          <p:nvPr/>
        </p:nvSpPr>
        <p:spPr>
          <a:xfrm>
            <a:off x="8816339" y="4529546"/>
            <a:ext cx="2514600" cy="11268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algn="ctr"/>
            <a:r>
              <a:rPr lang="lt-LT" sz="2400" dirty="0"/>
              <a:t>Sąryšis tarp </a:t>
            </a:r>
            <a:r>
              <a:rPr lang="lt-LT" sz="2400" dirty="0" err="1"/>
              <a:t>mikro</a:t>
            </a:r>
            <a:r>
              <a:rPr lang="lt-LT" sz="2400" dirty="0"/>
              <a:t> ir </a:t>
            </a:r>
            <a:r>
              <a:rPr lang="lt-LT" sz="2400" dirty="0" err="1"/>
              <a:t>makro</a:t>
            </a:r>
            <a:r>
              <a:rPr lang="lt-LT" sz="2400" dirty="0"/>
              <a:t> įvykių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99015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09FC08C-3432-0586-59CD-BC4503B68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1948"/>
            <a:ext cx="9053945" cy="1126868"/>
          </a:xfrm>
        </p:spPr>
        <p:txBody>
          <a:bodyPr>
            <a:normAutofit/>
          </a:bodyPr>
          <a:lstStyle/>
          <a:p>
            <a:r>
              <a:rPr lang="lt-LT" sz="3200" dirty="0"/>
              <a:t>Tradicinės ir LLM pagalba veikiančios agentų sistemos</a:t>
            </a:r>
            <a:endParaRPr lang="en-US" sz="320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CE63F85-2E4B-87C1-559C-59A9A74765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859213"/>
            <a:ext cx="4847705" cy="644769"/>
          </a:xfrm>
        </p:spPr>
        <p:txBody>
          <a:bodyPr>
            <a:noAutofit/>
          </a:bodyPr>
          <a:lstStyle/>
          <a:p>
            <a:r>
              <a:rPr lang="lt-LT" sz="2800" dirty="0"/>
              <a:t>Tradicinės agentų sistemos</a:t>
            </a:r>
            <a:endParaRPr lang="en-US" sz="2800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16D232E-7C16-DF79-DF3E-CBC7FDB3EE77}"/>
              </a:ext>
            </a:extLst>
          </p:cNvPr>
          <p:cNvSpPr txBox="1">
            <a:spLocks/>
          </p:cNvSpPr>
          <p:nvPr/>
        </p:nvSpPr>
        <p:spPr>
          <a:xfrm>
            <a:off x="6905106" y="1869139"/>
            <a:ext cx="4448695" cy="6447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 sz="2800" dirty="0"/>
              <a:t>LLM agentų sistemos</a:t>
            </a:r>
            <a:endParaRPr lang="en-US" sz="28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DFB5AB1-3DD0-2C99-7A56-E5AFE4E4CF2B}"/>
              </a:ext>
            </a:extLst>
          </p:cNvPr>
          <p:cNvSpPr txBox="1">
            <a:spLocks/>
          </p:cNvSpPr>
          <p:nvPr/>
        </p:nvSpPr>
        <p:spPr>
          <a:xfrm>
            <a:off x="838200" y="2784231"/>
            <a:ext cx="4023511" cy="36018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t-LT" dirty="0"/>
              <a:t>Veikia </a:t>
            </a:r>
            <a:r>
              <a:rPr lang="lt-LT" dirty="0" err="1"/>
              <a:t>detereministinių</a:t>
            </a:r>
            <a:r>
              <a:rPr lang="lt-LT" dirty="0"/>
              <a:t> algoritmų pagalba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t-LT" dirty="0"/>
              <a:t>Netiksliai</a:t>
            </a:r>
            <a:r>
              <a:rPr lang="en-US" dirty="0"/>
              <a:t> </a:t>
            </a:r>
            <a:r>
              <a:rPr lang="lt-LT" dirty="0"/>
              <a:t>at</a:t>
            </a:r>
            <a:r>
              <a:rPr lang="en-US" dirty="0" err="1"/>
              <a:t>vaizduojami</a:t>
            </a:r>
            <a:r>
              <a:rPr lang="en-US" dirty="0"/>
              <a:t> </a:t>
            </a:r>
            <a:r>
              <a:rPr lang="lt-LT" dirty="0"/>
              <a:t>žmonių </a:t>
            </a:r>
            <a:r>
              <a:rPr lang="lt-LT" dirty="0" err="1"/>
              <a:t>mikro</a:t>
            </a:r>
            <a:r>
              <a:rPr lang="lt-LT" dirty="0"/>
              <a:t> sprendimai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t-LT" dirty="0"/>
              <a:t>Palyginti primityvi agentų ir jų sąveikų </a:t>
            </a:r>
            <a:r>
              <a:rPr lang="lt-LT" dirty="0" err="1"/>
              <a:t>implementacija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DF20208-C932-C21F-9416-0BE739DD21C7}"/>
              </a:ext>
            </a:extLst>
          </p:cNvPr>
          <p:cNvSpPr txBox="1">
            <a:spLocks/>
          </p:cNvSpPr>
          <p:nvPr/>
        </p:nvSpPr>
        <p:spPr>
          <a:xfrm>
            <a:off x="6740236" y="2784231"/>
            <a:ext cx="5257800" cy="36018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t-LT" dirty="0"/>
              <a:t>Galimybė pagrįsti veiksmus, reflektuoti, įvertinti kontekstą, tiksliau simuliuoti žmogaus atmintį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t-LT" dirty="0"/>
              <a:t>Agentų kompozicija įgalina sudėtingesnių simuliacijų ir sąveikų kūrimą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t-LT" dirty="0"/>
              <a:t>Technologinės D.K.M bei </a:t>
            </a:r>
            <a:r>
              <a:rPr lang="lt-LT" dirty="0" err="1"/>
              <a:t>implementacijos</a:t>
            </a:r>
            <a:r>
              <a:rPr lang="lt-LT" dirty="0"/>
              <a:t> problemos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640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53D5E-64E2-DB0B-A042-D877D9305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08B84-F20F-BDCB-83DF-F6DF3F397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322"/>
            <a:ext cx="9053945" cy="1126868"/>
          </a:xfrm>
        </p:spPr>
        <p:txBody>
          <a:bodyPr>
            <a:normAutofit/>
          </a:bodyPr>
          <a:lstStyle/>
          <a:p>
            <a:r>
              <a:rPr lang="lt-LT" sz="3200" dirty="0"/>
              <a:t>LLM </a:t>
            </a:r>
            <a:r>
              <a:rPr lang="lt-LT" sz="3200" dirty="0" err="1"/>
              <a:t>simuliacinių</a:t>
            </a:r>
            <a:r>
              <a:rPr lang="lt-LT" sz="3200" dirty="0"/>
              <a:t> sistemų algoritmas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34368D-2347-692A-5B74-405B46808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6102"/>
            <a:ext cx="10515600" cy="492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590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651C5-69F8-22ED-D550-572426477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35530-AD5C-EE36-8D66-152CF76DA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322"/>
            <a:ext cx="9053945" cy="1126868"/>
          </a:xfrm>
        </p:spPr>
        <p:txBody>
          <a:bodyPr>
            <a:normAutofit/>
          </a:bodyPr>
          <a:lstStyle/>
          <a:p>
            <a:r>
              <a:rPr lang="lt-LT" sz="3200" dirty="0"/>
              <a:t>LLM </a:t>
            </a:r>
            <a:r>
              <a:rPr lang="lt-LT" sz="3200" dirty="0" err="1"/>
              <a:t>implementacijos</a:t>
            </a:r>
            <a:r>
              <a:rPr lang="lt-LT" sz="3200" dirty="0"/>
              <a:t> ir panaudojimo metodai</a:t>
            </a:r>
            <a:endParaRPr lang="en-US" sz="3200" dirty="0"/>
          </a:p>
        </p:txBody>
      </p:sp>
      <p:sp>
        <p:nvSpPr>
          <p:cNvPr id="4" name="AutoShape 8" descr="RAG Icon - Free Download Network &amp; Communication Icons | IconScout">
            <a:extLst>
              <a:ext uri="{FF2B5EF4-FFF2-40B4-BE49-F238E27FC236}">
                <a16:creationId xmlns:a16="http://schemas.microsoft.com/office/drawing/2014/main" id="{18324FCD-6784-879A-3DB2-CA8A40FC0F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818015" cy="2818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Blue and blue icons on a black background&#10;&#10;AI-generated content may be incorrect.">
            <a:extLst>
              <a:ext uri="{FF2B5EF4-FFF2-40B4-BE49-F238E27FC236}">
                <a16:creationId xmlns:a16="http://schemas.microsoft.com/office/drawing/2014/main" id="{CAB17F3B-3BCA-711B-CC0F-294355538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" y="1656078"/>
            <a:ext cx="2818016" cy="2818016"/>
          </a:xfrm>
          <a:prstGeom prst="rect">
            <a:avLst/>
          </a:prstGeom>
        </p:spPr>
      </p:pic>
      <p:pic>
        <p:nvPicPr>
          <p:cNvPr id="1038" name="Picture 14" descr="Logotype for the Prompt Engineering | prompt-engineering-logo">
            <a:extLst>
              <a:ext uri="{FF2B5EF4-FFF2-40B4-BE49-F238E27FC236}">
                <a16:creationId xmlns:a16="http://schemas.microsoft.com/office/drawing/2014/main" id="{9AE7627F-A611-7811-6273-52C635F52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170" y="2019993"/>
            <a:ext cx="2518756" cy="251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Fine tuning Vector Icons free download in SVG, PNG Format">
            <a:extLst>
              <a:ext uri="{FF2B5EF4-FFF2-40B4-BE49-F238E27FC236}">
                <a16:creationId xmlns:a16="http://schemas.microsoft.com/office/drawing/2014/main" id="{339D3E91-7E5C-10BF-23A1-595980C0C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2767" y="2017221"/>
            <a:ext cx="2518756" cy="251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CFADB32-9250-49F3-10D8-54C3CBDDC675}"/>
              </a:ext>
            </a:extLst>
          </p:cNvPr>
          <p:cNvSpPr txBox="1">
            <a:spLocks/>
          </p:cNvSpPr>
          <p:nvPr/>
        </p:nvSpPr>
        <p:spPr>
          <a:xfrm>
            <a:off x="542128" y="4474094"/>
            <a:ext cx="3913079" cy="11268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algn="ctr"/>
            <a:r>
              <a:rPr lang="en-US" sz="2400" b="0" dirty="0"/>
              <a:t>RAG</a:t>
            </a:r>
          </a:p>
          <a:p>
            <a:pPr algn="ctr"/>
            <a:r>
              <a:rPr lang="en-US" sz="2400" b="0" dirty="0"/>
              <a:t>(</a:t>
            </a:r>
            <a:r>
              <a:rPr lang="en-US" sz="2400" b="0" dirty="0" err="1"/>
              <a:t>angl.</a:t>
            </a:r>
            <a:r>
              <a:rPr lang="en-US" sz="2400" b="0" dirty="0"/>
              <a:t> </a:t>
            </a:r>
            <a:r>
              <a:rPr lang="en-US" sz="2400" b="0" i="1" dirty="0"/>
              <a:t>Retrieval Augmented Generation</a:t>
            </a:r>
            <a:r>
              <a:rPr lang="en-US" sz="2400" b="0" dirty="0"/>
              <a:t>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C5F0230-55C1-550A-9478-1A7E7672000C}"/>
              </a:ext>
            </a:extLst>
          </p:cNvPr>
          <p:cNvSpPr txBox="1">
            <a:spLocks/>
          </p:cNvSpPr>
          <p:nvPr/>
        </p:nvSpPr>
        <p:spPr>
          <a:xfrm>
            <a:off x="4488597" y="4685606"/>
            <a:ext cx="3913079" cy="11268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algn="ctr"/>
            <a:r>
              <a:rPr lang="lt-LT" sz="2400" b="0" dirty="0"/>
              <a:t>Įvesties modeliavimas</a:t>
            </a:r>
          </a:p>
          <a:p>
            <a:pPr algn="ctr"/>
            <a:r>
              <a:rPr lang="lt-LT" sz="2400" b="0" dirty="0"/>
              <a:t>(angl. </a:t>
            </a:r>
            <a:r>
              <a:rPr lang="lt-LT" sz="2400" b="0" i="1" dirty="0" err="1"/>
              <a:t>Prompt</a:t>
            </a:r>
            <a:r>
              <a:rPr lang="lt-LT" sz="2400" b="0" i="1" dirty="0"/>
              <a:t> </a:t>
            </a:r>
            <a:r>
              <a:rPr lang="lt-LT" sz="2400" b="0" i="1" dirty="0" err="1"/>
              <a:t>engineering</a:t>
            </a:r>
            <a:r>
              <a:rPr lang="lt-LT" sz="2400" b="0" dirty="0"/>
              <a:t>)</a:t>
            </a:r>
            <a:endParaRPr lang="en-US" sz="2400" b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E0260DE-A0EA-8387-6FFB-EDA8F96B439D}"/>
              </a:ext>
            </a:extLst>
          </p:cNvPr>
          <p:cNvSpPr txBox="1">
            <a:spLocks/>
          </p:cNvSpPr>
          <p:nvPr/>
        </p:nvSpPr>
        <p:spPr>
          <a:xfrm>
            <a:off x="8000029" y="4685606"/>
            <a:ext cx="3913079" cy="11268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algn="ctr"/>
            <a:r>
              <a:rPr lang="lt-LT" sz="2400" b="0" dirty="0"/>
              <a:t>Papildomas treniravimas</a:t>
            </a:r>
          </a:p>
          <a:p>
            <a:pPr algn="ctr"/>
            <a:r>
              <a:rPr lang="lt-LT" sz="2400" b="0" dirty="0"/>
              <a:t>(angl. </a:t>
            </a:r>
            <a:r>
              <a:rPr lang="lt-LT" sz="2400" b="0" i="1" dirty="0" err="1"/>
              <a:t>Finetuning</a:t>
            </a:r>
            <a:r>
              <a:rPr lang="lt-LT" sz="2400" b="0" dirty="0"/>
              <a:t>)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21716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1B453E0-ECDF-047E-2C4A-6E1E8691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322"/>
            <a:ext cx="9053945" cy="1126868"/>
          </a:xfrm>
        </p:spPr>
        <p:txBody>
          <a:bodyPr>
            <a:normAutofit/>
          </a:bodyPr>
          <a:lstStyle/>
          <a:p>
            <a:r>
              <a:rPr lang="lt-LT" sz="3200" dirty="0"/>
              <a:t>Praktiniai pavyzdžiai: „Interaktyvus žmonių elgesio atspindys“</a:t>
            </a:r>
            <a:endParaRPr lang="en-US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49162F-6B8E-A00C-491E-B8C363C84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397" y="1800767"/>
            <a:ext cx="7195205" cy="36191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329EE9-3F01-55F0-C348-6D03122C6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111" y="6012221"/>
            <a:ext cx="11181776" cy="5400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DB1544-0B80-9479-7CD5-C563D32937F5}"/>
              </a:ext>
            </a:extLst>
          </p:cNvPr>
          <p:cNvSpPr txBox="1"/>
          <p:nvPr/>
        </p:nvSpPr>
        <p:spPr>
          <a:xfrm>
            <a:off x="2498397" y="5516005"/>
            <a:ext cx="60932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Atminties</a:t>
            </a:r>
            <a:r>
              <a:rPr lang="en-US" sz="2000" dirty="0"/>
              <a:t> </a:t>
            </a:r>
            <a:r>
              <a:rPr lang="en-US" sz="2000" dirty="0" err="1"/>
              <a:t>srauto</a:t>
            </a:r>
            <a:r>
              <a:rPr lang="en-US" sz="2000" dirty="0"/>
              <a:t> </a:t>
            </a:r>
            <a:r>
              <a:rPr lang="en-US" sz="2000" dirty="0" err="1"/>
              <a:t>vizualizacija</a:t>
            </a:r>
            <a:r>
              <a:rPr lang="en-US" sz="2000" dirty="0"/>
              <a:t> [POC+23]</a:t>
            </a:r>
          </a:p>
        </p:txBody>
      </p:sp>
    </p:spTree>
    <p:extLst>
      <p:ext uri="{BB962C8B-B14F-4D97-AF65-F5344CB8AC3E}">
        <p14:creationId xmlns:p14="http://schemas.microsoft.com/office/powerpoint/2010/main" val="3974242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8542C-C85B-1623-4C8A-7E329EEDC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EE35C7D-F979-C203-EAF0-B32BBFFDC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322"/>
            <a:ext cx="9053945" cy="1126868"/>
          </a:xfrm>
        </p:spPr>
        <p:txBody>
          <a:bodyPr>
            <a:normAutofit/>
          </a:bodyPr>
          <a:lstStyle/>
          <a:p>
            <a:r>
              <a:rPr lang="lt-LT" sz="3200" dirty="0"/>
              <a:t>Praktiniai pavyzdžiai: „Interaktyvus žmonių elgesio atspindys“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D807F6-208F-C146-6100-137DC977E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803" y="1791475"/>
            <a:ext cx="7321342" cy="43057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B93B1A-78FC-2A0E-7E3D-8AB96D99C784}"/>
              </a:ext>
            </a:extLst>
          </p:cNvPr>
          <p:cNvSpPr txBox="1"/>
          <p:nvPr/>
        </p:nvSpPr>
        <p:spPr>
          <a:xfrm>
            <a:off x="2570803" y="6097198"/>
            <a:ext cx="73213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Kontroliuojamo</a:t>
            </a:r>
            <a:r>
              <a:rPr lang="en-US" sz="2000" dirty="0"/>
              <a:t> </a:t>
            </a:r>
            <a:r>
              <a:rPr lang="en-US" sz="2000" dirty="0" err="1"/>
              <a:t>eksperimento</a:t>
            </a:r>
            <a:r>
              <a:rPr lang="en-US" sz="2000" dirty="0"/>
              <a:t> </a:t>
            </a:r>
            <a:r>
              <a:rPr lang="en-US" sz="2000" dirty="0" err="1"/>
              <a:t>rezultatų</a:t>
            </a:r>
            <a:r>
              <a:rPr lang="en-US" sz="2000" dirty="0"/>
              <a:t> </a:t>
            </a:r>
            <a:r>
              <a:rPr lang="en-US" sz="2000" dirty="0" err="1"/>
              <a:t>diagrama</a:t>
            </a:r>
            <a:r>
              <a:rPr lang="en-US" sz="2000" dirty="0"/>
              <a:t> [POC+23]</a:t>
            </a:r>
          </a:p>
        </p:txBody>
      </p:sp>
    </p:spTree>
    <p:extLst>
      <p:ext uri="{BB962C8B-B14F-4D97-AF65-F5344CB8AC3E}">
        <p14:creationId xmlns:p14="http://schemas.microsoft.com/office/powerpoint/2010/main" val="3665687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19DE9-773F-6058-8485-5387ACF90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E8AE202-C22A-457A-BE80-CF1A2D493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322"/>
            <a:ext cx="9053945" cy="1126868"/>
          </a:xfrm>
        </p:spPr>
        <p:txBody>
          <a:bodyPr>
            <a:normAutofit/>
          </a:bodyPr>
          <a:lstStyle/>
          <a:p>
            <a:r>
              <a:rPr lang="lt-LT" sz="3200" dirty="0"/>
              <a:t>Praktiniai pavyzdžiai: „Agentų visuomenė“</a:t>
            </a:r>
            <a:endParaRPr lang="en-US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8A9F2A-CD66-87E7-2D48-96939F409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357" y="1373329"/>
            <a:ext cx="8345286" cy="50293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14180B-B7B2-8758-EE95-8B9886815A99}"/>
              </a:ext>
            </a:extLst>
          </p:cNvPr>
          <p:cNvSpPr txBox="1"/>
          <p:nvPr/>
        </p:nvSpPr>
        <p:spPr>
          <a:xfrm>
            <a:off x="1923357" y="6488668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dirty="0"/>
              <a:t>Sistemos architektūros diagrama </a:t>
            </a:r>
            <a:r>
              <a:rPr lang="en-US" dirty="0"/>
              <a:t>[PYZ+25]</a:t>
            </a:r>
          </a:p>
        </p:txBody>
      </p:sp>
    </p:spTree>
    <p:extLst>
      <p:ext uri="{BB962C8B-B14F-4D97-AF65-F5344CB8AC3E}">
        <p14:creationId xmlns:p14="http://schemas.microsoft.com/office/powerpoint/2010/main" val="3846194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3FA81-9FAB-B2F2-D02A-9847E368C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AE5E6A8-155B-6E81-E40D-2816C9895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322"/>
            <a:ext cx="9053945" cy="1126868"/>
          </a:xfrm>
        </p:spPr>
        <p:txBody>
          <a:bodyPr>
            <a:normAutofit/>
          </a:bodyPr>
          <a:lstStyle/>
          <a:p>
            <a:r>
              <a:rPr lang="lt-LT" sz="3200" dirty="0"/>
              <a:t>Praktiniai pavyzdžiai: „Agentų visuomenė“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8AB9FA-A5D7-AE0C-B2CD-868CC792B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56785"/>
            <a:ext cx="10515601" cy="32036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92A12A-FA22-3224-CEB8-B4B7EBDDF155}"/>
              </a:ext>
            </a:extLst>
          </p:cNvPr>
          <p:cNvSpPr txBox="1"/>
          <p:nvPr/>
        </p:nvSpPr>
        <p:spPr>
          <a:xfrm>
            <a:off x="838199" y="4935004"/>
            <a:ext cx="72251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Agentų</a:t>
            </a:r>
            <a:r>
              <a:rPr lang="en-US" sz="2000" dirty="0"/>
              <a:t> </a:t>
            </a:r>
            <a:r>
              <a:rPr lang="en-US" sz="2000" dirty="0" err="1"/>
              <a:t>klasterio</a:t>
            </a:r>
            <a:r>
              <a:rPr lang="en-US" sz="2000" dirty="0"/>
              <a:t> </a:t>
            </a:r>
            <a:r>
              <a:rPr lang="en-US" sz="2000" dirty="0" err="1"/>
              <a:t>procesų</a:t>
            </a:r>
            <a:r>
              <a:rPr lang="en-US" sz="2000" dirty="0"/>
              <a:t> </a:t>
            </a:r>
            <a:r>
              <a:rPr lang="en-US" sz="2000" dirty="0" err="1"/>
              <a:t>išlygiagretinimo</a:t>
            </a:r>
            <a:r>
              <a:rPr lang="en-US" sz="2000" dirty="0"/>
              <a:t> </a:t>
            </a:r>
            <a:r>
              <a:rPr lang="en-US" sz="2000" dirty="0" err="1"/>
              <a:t>diagrama</a:t>
            </a:r>
            <a:r>
              <a:rPr lang="en-US" sz="2000" dirty="0"/>
              <a:t> [PYZ+25]</a:t>
            </a:r>
          </a:p>
        </p:txBody>
      </p:sp>
    </p:spTree>
    <p:extLst>
      <p:ext uri="{BB962C8B-B14F-4D97-AF65-F5344CB8AC3E}">
        <p14:creationId xmlns:p14="http://schemas.microsoft.com/office/powerpoint/2010/main" val="1209374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F5A2D-2A00-477D-6E82-9218CC28F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C9202C8-750C-89E7-7E23-30725D499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322"/>
            <a:ext cx="9053945" cy="1126868"/>
          </a:xfrm>
        </p:spPr>
        <p:txBody>
          <a:bodyPr>
            <a:normAutofit/>
          </a:bodyPr>
          <a:lstStyle/>
          <a:p>
            <a:r>
              <a:rPr lang="lt-LT" sz="3200" dirty="0"/>
              <a:t>Praktiniai pavyzdžiai: „Agentų visuomenė“</a:t>
            </a: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4056F6-95E9-AA91-F97A-8951A6A4A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20568"/>
            <a:ext cx="10153650" cy="14696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13CC4E-A0D7-529C-19A4-8B7C5925A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05782"/>
            <a:ext cx="10153650" cy="16511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E60668-EB6D-4BF5-2D95-3A8134BADCBE}"/>
              </a:ext>
            </a:extLst>
          </p:cNvPr>
          <p:cNvSpPr txBox="1"/>
          <p:nvPr/>
        </p:nvSpPr>
        <p:spPr>
          <a:xfrm>
            <a:off x="721821" y="5794799"/>
            <a:ext cx="60932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sz="2000" dirty="0"/>
              <a:t>Sistemos efektyvumo įvertinimų lentelė [PYZ+25] 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C51F22-472C-8731-5417-BDF352C7C2D3}"/>
              </a:ext>
            </a:extLst>
          </p:cNvPr>
          <p:cNvSpPr txBox="1"/>
          <p:nvPr/>
        </p:nvSpPr>
        <p:spPr>
          <a:xfrm>
            <a:off x="721821" y="3267715"/>
            <a:ext cx="60932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sz="2000" dirty="0"/>
              <a:t>Skirtingų žinučių sistemų įvertinimų lentelė [PYZ+25]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64447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DC2E2-28FA-DD2C-87AE-A30318F33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3D16E5D-42C2-7A28-5440-A1C562AA6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322"/>
            <a:ext cx="9053945" cy="1126868"/>
          </a:xfrm>
        </p:spPr>
        <p:txBody>
          <a:bodyPr>
            <a:normAutofit/>
          </a:bodyPr>
          <a:lstStyle/>
          <a:p>
            <a:r>
              <a:rPr lang="lt-LT" sz="3200" dirty="0"/>
              <a:t>Išvados</a:t>
            </a:r>
            <a:endParaRPr lang="en-US" sz="32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5485F7B-0DD4-8B0E-0201-DD9B4A2E48DA}"/>
              </a:ext>
            </a:extLst>
          </p:cNvPr>
          <p:cNvSpPr txBox="1">
            <a:spLocks/>
          </p:cNvSpPr>
          <p:nvPr/>
        </p:nvSpPr>
        <p:spPr>
          <a:xfrm>
            <a:off x="838200" y="1454196"/>
            <a:ext cx="10749743" cy="35666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lt-LT" sz="2000" dirty="0">
                <a:latin typeface="+mn-lt"/>
              </a:rPr>
              <a:t>D.K.M. pagalba įmanoma realizuoti architektūras, kuriose žmonės vaizduojami kaip agentai su atmintimi, vidine būsena ir gebėjimu autonomiškai priimti sprendimus pagal kontekstą bei aplinką.</a:t>
            </a:r>
            <a:endParaRPr lang="en-US" sz="20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lt-LT" sz="2000" dirty="0" err="1">
                <a:latin typeface="+mn-lt"/>
              </a:rPr>
              <a:t>Simuliacinėse</a:t>
            </a:r>
            <a:r>
              <a:rPr lang="lt-LT" sz="2000" dirty="0">
                <a:latin typeface="+mn-lt"/>
              </a:rPr>
              <a:t> sistemose dažnai pasikartoja tos pačios problemos, kylančios tiek iš pačių D.K.M.</a:t>
            </a:r>
            <a:r>
              <a:rPr lang="en-US" sz="2000" dirty="0">
                <a:latin typeface="+mn-lt"/>
              </a:rPr>
              <a:t>, , </a:t>
            </a:r>
            <a:r>
              <a:rPr lang="en-US" sz="2000" dirty="0" err="1">
                <a:latin typeface="+mn-lt"/>
              </a:rPr>
              <a:t>tiek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iš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sistemos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architektūros</a:t>
            </a:r>
            <a:r>
              <a:rPr lang="en-US" sz="2000" dirty="0">
                <a:latin typeface="+mn-lt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+mn-lt"/>
              </a:rPr>
              <a:t>Norint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pasiekti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aukštą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simuliacijos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kokybę</a:t>
            </a:r>
            <a:r>
              <a:rPr lang="en-US" sz="2000" dirty="0">
                <a:latin typeface="+mn-lt"/>
              </a:rPr>
              <a:t>, </a:t>
            </a:r>
            <a:r>
              <a:rPr lang="en-US" sz="2000" dirty="0" err="1">
                <a:latin typeface="+mn-lt"/>
              </a:rPr>
              <a:t>būtina</a:t>
            </a:r>
            <a:endParaRPr lang="en-US" sz="2000" dirty="0">
              <a:latin typeface="+mn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n-lt"/>
              </a:rPr>
              <a:t>	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tinkamai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išskaidyti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sistemos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sudedamąsias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ir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jas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vertinti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atskirai</a:t>
            </a:r>
            <a:endParaRPr lang="en-US" dirty="0">
              <a:solidFill>
                <a:schemeClr val="tx1"/>
              </a:solidFill>
              <a:latin typeface="+mn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n-lt"/>
              </a:rPr>
              <a:t>	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kryptingai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taikyti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D.K.M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panaudojimo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metodus</a:t>
            </a:r>
            <a:endParaRPr lang="en-US" dirty="0">
              <a:solidFill>
                <a:schemeClr val="tx1"/>
              </a:solidFill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t-LT" sz="2000" b="0" i="0" u="none" strike="noStrike" baseline="0" dirty="0">
                <a:latin typeface="+mn-lt"/>
              </a:rPr>
              <a:t> Svarbu atsakingai pasirinkti programines bibliotekas, skirtas agentų sąveikai, atsižvelgiant į</a:t>
            </a:r>
            <a:r>
              <a:rPr lang="en-US" sz="2000" b="0" i="0" u="none" strike="noStrike" baseline="0" dirty="0">
                <a:latin typeface="+mn-lt"/>
              </a:rPr>
              <a:t> </a:t>
            </a:r>
            <a:r>
              <a:rPr lang="en-US" sz="2000" b="0" i="0" u="none" strike="noStrike" baseline="0" dirty="0" err="1">
                <a:latin typeface="+mn-lt"/>
              </a:rPr>
              <a:t>simuliacijos</a:t>
            </a:r>
            <a:r>
              <a:rPr lang="en-US" sz="2000" b="0" i="0" u="none" strike="noStrike" baseline="0" dirty="0">
                <a:latin typeface="+mn-lt"/>
              </a:rPr>
              <a:t> </a:t>
            </a:r>
            <a:r>
              <a:rPr lang="en-US" sz="2000" b="0" i="0" u="none" strike="noStrike" baseline="0" dirty="0" err="1">
                <a:latin typeface="+mn-lt"/>
              </a:rPr>
              <a:t>dydį</a:t>
            </a:r>
            <a:r>
              <a:rPr lang="en-US" sz="2000" b="0" i="0" u="none" strike="noStrike" baseline="0" dirty="0">
                <a:latin typeface="+mn-lt"/>
              </a:rPr>
              <a:t>, </a:t>
            </a:r>
            <a:r>
              <a:rPr lang="en-US" sz="2000" b="0" i="0" u="none" strike="noStrike" baseline="0" dirty="0" err="1">
                <a:latin typeface="+mn-lt"/>
              </a:rPr>
              <a:t>tiriam</a:t>
            </a:r>
            <a:r>
              <a:rPr lang="lt-LT" sz="2000" b="0" i="0" u="none" strike="noStrike" baseline="0" dirty="0">
                <a:latin typeface="+mn-lt"/>
              </a:rPr>
              <a:t>ą</a:t>
            </a:r>
            <a:r>
              <a:rPr lang="en-US" sz="2000" b="0" i="0" u="none" strike="noStrike" baseline="0" dirty="0">
                <a:latin typeface="+mn-lt"/>
              </a:rPr>
              <a:t> </a:t>
            </a:r>
            <a:r>
              <a:rPr lang="en-US" sz="2000" b="0" i="0" u="none" strike="noStrike" baseline="0" dirty="0" err="1">
                <a:latin typeface="+mn-lt"/>
              </a:rPr>
              <a:t>scenarij</a:t>
            </a:r>
            <a:r>
              <a:rPr lang="lt-LT" sz="2000" b="0" i="0" u="none" strike="noStrike" baseline="0" dirty="0">
                <a:latin typeface="+mn-lt"/>
              </a:rPr>
              <a:t>ų bei vertinimo metodiką</a:t>
            </a:r>
          </a:p>
          <a:p>
            <a:endParaRPr lang="en-US" sz="1800" b="0" i="0" u="none" strike="noStrike" baseline="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lt-LT" sz="1200" b="0" i="0" u="none" strike="noStrike" baseline="0" dirty="0">
              <a:solidFill>
                <a:schemeClr val="tx1"/>
              </a:solidFill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59FCC-9019-67AD-6EDE-4E1FB025632E}"/>
              </a:ext>
            </a:extLst>
          </p:cNvPr>
          <p:cNvSpPr txBox="1">
            <a:spLocks/>
          </p:cNvSpPr>
          <p:nvPr/>
        </p:nvSpPr>
        <p:spPr>
          <a:xfrm>
            <a:off x="721128" y="5275810"/>
            <a:ext cx="10749743" cy="1126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GT Walsheim Regular Oblique" charset="0"/>
                <a:ea typeface="GT Walsheim Regular Oblique" charset="0"/>
                <a:cs typeface="GT Walsheim Regular Oblique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lt-LT" sz="1800" b="1" i="0" u="none" strike="noStrike" baseline="0" dirty="0">
                <a:latin typeface="+mn-lt"/>
              </a:rPr>
              <a:t>Atsižvelgus į gautas išvadas, galima teigti, jog D.K.M . pagrindu grįstos visuomenės simuliacijos sistemos turi didelį potencialią socialinių mokslų tyrimuose, bet vis dar susiduria su nemažais technologiniais iššūkiais</a:t>
            </a:r>
          </a:p>
        </p:txBody>
      </p:sp>
    </p:spTree>
    <p:extLst>
      <p:ext uri="{BB962C8B-B14F-4D97-AF65-F5344CB8AC3E}">
        <p14:creationId xmlns:p14="http://schemas.microsoft.com/office/powerpoint/2010/main" val="1190253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VU">
      <a:dk1>
        <a:srgbClr val="7A003B"/>
      </a:dk1>
      <a:lt1>
        <a:srgbClr val="FFFFFF"/>
      </a:lt1>
      <a:dk2>
        <a:srgbClr val="7A003B"/>
      </a:dk2>
      <a:lt2>
        <a:srgbClr val="FEFFFE"/>
      </a:lt2>
      <a:accent1>
        <a:srgbClr val="E03357"/>
      </a:accent1>
      <a:accent2>
        <a:srgbClr val="E2E3E2"/>
      </a:accent2>
      <a:accent3>
        <a:srgbClr val="3B3C3A"/>
      </a:accent3>
      <a:accent4>
        <a:srgbClr val="989998"/>
      </a:accent4>
      <a:accent5>
        <a:srgbClr val="D5D5D5"/>
      </a:accent5>
      <a:accent6>
        <a:srgbClr val="797979"/>
      </a:accent6>
      <a:hlink>
        <a:srgbClr val="E03357"/>
      </a:hlink>
      <a:folHlink>
        <a:srgbClr val="E2E3E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ristatymas su polichrominiu logotipu">
  <a:themeElements>
    <a:clrScheme name="Custom 1">
      <a:dk1>
        <a:srgbClr val="000000"/>
      </a:dk1>
      <a:lt1>
        <a:srgbClr val="FFFFFF"/>
      </a:lt1>
      <a:dk2>
        <a:srgbClr val="404040"/>
      </a:dk2>
      <a:lt2>
        <a:srgbClr val="FEFFFE"/>
      </a:lt2>
      <a:accent1>
        <a:srgbClr val="EBDF1F"/>
      </a:accent1>
      <a:accent2>
        <a:srgbClr val="E2E3E2"/>
      </a:accent2>
      <a:accent3>
        <a:srgbClr val="3B3C3A"/>
      </a:accent3>
      <a:accent4>
        <a:srgbClr val="989998"/>
      </a:accent4>
      <a:accent5>
        <a:srgbClr val="D5D5D5"/>
      </a:accent5>
      <a:accent6>
        <a:srgbClr val="797979"/>
      </a:accent6>
      <a:hlink>
        <a:srgbClr val="EBDF1F"/>
      </a:hlink>
      <a:folHlink>
        <a:srgbClr val="E2E3E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VU">
      <a:dk1>
        <a:srgbClr val="7A003B"/>
      </a:dk1>
      <a:lt1>
        <a:srgbClr val="FFFFFF"/>
      </a:lt1>
      <a:dk2>
        <a:srgbClr val="7A003B"/>
      </a:dk2>
      <a:lt2>
        <a:srgbClr val="FEFFFE"/>
      </a:lt2>
      <a:accent1>
        <a:srgbClr val="E03357"/>
      </a:accent1>
      <a:accent2>
        <a:srgbClr val="E2E3E2"/>
      </a:accent2>
      <a:accent3>
        <a:srgbClr val="3B3C3A"/>
      </a:accent3>
      <a:accent4>
        <a:srgbClr val="989998"/>
      </a:accent4>
      <a:accent5>
        <a:srgbClr val="D5D5D5"/>
      </a:accent5>
      <a:accent6>
        <a:srgbClr val="797979"/>
      </a:accent6>
      <a:hlink>
        <a:srgbClr val="E03357"/>
      </a:hlink>
      <a:folHlink>
        <a:srgbClr val="E2E3E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19727</TotalTime>
  <Words>470</Words>
  <Application>Microsoft Office PowerPoint</Application>
  <PresentationFormat>Widescreen</PresentationFormat>
  <Paragraphs>54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GT Walsheim Regular Oblique</vt:lpstr>
      <vt:lpstr>Custom Design</vt:lpstr>
      <vt:lpstr>Pristatymas su polichrominiu logotipu</vt:lpstr>
      <vt:lpstr>1_Custom Design</vt:lpstr>
      <vt:lpstr>Visuomenės simuliacijos naudojant LLM</vt:lpstr>
      <vt:lpstr>Darbo tikslas ir uždaviniai</vt:lpstr>
      <vt:lpstr>Koks šių sistemų tikslas?</vt:lpstr>
      <vt:lpstr>Tradicinės ir LLM pagalba veikiančios agentų sistemos</vt:lpstr>
      <vt:lpstr>LLM simuliacinių sistemų algoritmas</vt:lpstr>
      <vt:lpstr>LLM implementacijos ir panaudojimo metodai</vt:lpstr>
      <vt:lpstr>Praktiniai pavyzdžiai: „Interaktyvus žmonių elgesio atspindys“</vt:lpstr>
      <vt:lpstr>Praktiniai pavyzdžiai: „Interaktyvus žmonių elgesio atspindys“</vt:lpstr>
      <vt:lpstr>Praktiniai pavyzdžiai: „Agentų visuomenė“</vt:lpstr>
      <vt:lpstr>Praktiniai pavyzdžiai: „Agentų visuomenė“</vt:lpstr>
      <vt:lpstr>Praktiniai pavyzdžiai: „Agentų visuomenė“</vt:lpstr>
      <vt:lpstr>Išvados</vt:lpstr>
    </vt:vector>
  </TitlesOfParts>
  <Company>Vilniaus universitetas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Rokas Aleliūnas</dc:creator>
  <cp:lastModifiedBy>Simonas Urbutis</cp:lastModifiedBy>
  <cp:revision>114</cp:revision>
  <dcterms:created xsi:type="dcterms:W3CDTF">2017-06-28T06:49:28Z</dcterms:created>
  <dcterms:modified xsi:type="dcterms:W3CDTF">2025-06-22T19:11:55Z</dcterms:modified>
</cp:coreProperties>
</file>